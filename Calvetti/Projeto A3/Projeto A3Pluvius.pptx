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Gatwick Ultra-Bold" charset="1" panose="00000900000000000000"/>
      <p:regular r:id="rId14"/>
    </p:embeddedFont>
    <p:embeddedFont>
      <p:font typeface="Codec Pro Ultra-Bold" charset="1" panose="00000700000000000000"/>
      <p:regular r:id="rId15"/>
    </p:embeddedFont>
    <p:embeddedFont>
      <p:font typeface="Codec Pro" charset="1" panose="00000500000000000000"/>
      <p:regular r:id="rId16"/>
    </p:embeddedFont>
    <p:embeddedFont>
      <p:font typeface="Codec Pro Bold" charset="1" panose="000006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19125"/>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0796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8E6C9"/>
            </a:solidFill>
          </p:spPr>
        </p:sp>
      </p:grpSp>
      <p:grpSp>
        <p:nvGrpSpPr>
          <p:cNvPr name="Group 5" id="5"/>
          <p:cNvGrpSpPr/>
          <p:nvPr/>
        </p:nvGrpSpPr>
        <p:grpSpPr>
          <a:xfrm rot="0">
            <a:off x="10095507" y="1171470"/>
            <a:ext cx="6898579" cy="7848810"/>
            <a:chOff x="0" y="0"/>
            <a:chExt cx="1078972" cy="1227593"/>
          </a:xfrm>
        </p:grpSpPr>
        <p:sp>
          <p:nvSpPr>
            <p:cNvPr name="Freeform 6" id="6"/>
            <p:cNvSpPr/>
            <p:nvPr/>
          </p:nvSpPr>
          <p:spPr>
            <a:xfrm flipH="false" flipV="false" rot="0">
              <a:off x="0" y="0"/>
              <a:ext cx="1078972" cy="1227593"/>
            </a:xfrm>
            <a:custGeom>
              <a:avLst/>
              <a:gdLst/>
              <a:ahLst/>
              <a:cxnLst/>
              <a:rect r="r" b="b" t="t" l="l"/>
              <a:pathLst>
                <a:path h="1227593" w="1078972">
                  <a:moveTo>
                    <a:pt x="56112" y="0"/>
                  </a:moveTo>
                  <a:lnTo>
                    <a:pt x="1022860" y="0"/>
                  </a:lnTo>
                  <a:cubicBezTo>
                    <a:pt x="1053850" y="0"/>
                    <a:pt x="1078972" y="25122"/>
                    <a:pt x="1078972" y="56112"/>
                  </a:cubicBezTo>
                  <a:lnTo>
                    <a:pt x="1078972" y="1171481"/>
                  </a:lnTo>
                  <a:cubicBezTo>
                    <a:pt x="1078972" y="1202471"/>
                    <a:pt x="1053850" y="1227593"/>
                    <a:pt x="1022860" y="1227593"/>
                  </a:cubicBezTo>
                  <a:lnTo>
                    <a:pt x="56112" y="1227593"/>
                  </a:lnTo>
                  <a:cubicBezTo>
                    <a:pt x="25122" y="1227593"/>
                    <a:pt x="0" y="1202471"/>
                    <a:pt x="0" y="1171481"/>
                  </a:cubicBezTo>
                  <a:lnTo>
                    <a:pt x="0" y="56112"/>
                  </a:lnTo>
                  <a:cubicBezTo>
                    <a:pt x="0" y="25122"/>
                    <a:pt x="25122" y="0"/>
                    <a:pt x="56112" y="0"/>
                  </a:cubicBezTo>
                  <a:close/>
                </a:path>
              </a:pathLst>
            </a:custGeom>
            <a:blipFill>
              <a:blip r:embed="rId2"/>
              <a:stretch>
                <a:fillRect l="0" t="-296" r="0" b="-296"/>
              </a:stretch>
            </a:blipFill>
            <a:ln w="38100" cap="rnd">
              <a:solidFill>
                <a:srgbClr val="000000"/>
              </a:solidFill>
              <a:prstDash val="solid"/>
              <a:round/>
            </a:ln>
          </p:spPr>
        </p:sp>
      </p:grpSp>
      <p:sp>
        <p:nvSpPr>
          <p:cNvPr name="TextBox 7" id="7"/>
          <p:cNvSpPr txBox="true"/>
          <p:nvPr/>
        </p:nvSpPr>
        <p:spPr>
          <a:xfrm rot="0">
            <a:off x="1800225" y="3233758"/>
            <a:ext cx="7496175" cy="3476625"/>
          </a:xfrm>
          <a:prstGeom prst="rect">
            <a:avLst/>
          </a:prstGeom>
        </p:spPr>
        <p:txBody>
          <a:bodyPr anchor="t" rtlCol="false" tIns="0" lIns="0" bIns="0" rIns="0">
            <a:spAutoFit/>
          </a:bodyPr>
          <a:lstStyle/>
          <a:p>
            <a:pPr algn="ctr" marL="0" indent="0" lvl="0">
              <a:lnSpc>
                <a:spcPts val="8999"/>
              </a:lnSpc>
            </a:pPr>
            <a:r>
              <a:rPr lang="en-US" b="true" sz="7499" spc="-187">
                <a:solidFill>
                  <a:srgbClr val="C8E6C9"/>
                </a:solidFill>
                <a:latin typeface="Gatwick Ultra-Bold"/>
                <a:ea typeface="Gatwick Ultra-Bold"/>
                <a:cs typeface="Gatwick Ultra-Bold"/>
                <a:sym typeface="Gatwick Ultra-Bold"/>
              </a:rPr>
              <a:t>Projeto Pluvius: AlertaSP</a:t>
            </a:r>
          </a:p>
        </p:txBody>
      </p:sp>
      <p:sp>
        <p:nvSpPr>
          <p:cNvPr name="TextBox 8" id="8"/>
          <p:cNvSpPr txBox="true"/>
          <p:nvPr/>
        </p:nvSpPr>
        <p:spPr>
          <a:xfrm rot="0">
            <a:off x="1800225" y="1504950"/>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C8E6C9"/>
                </a:solidFill>
                <a:latin typeface="Codec Pro Ultra-Bold"/>
                <a:ea typeface="Codec Pro Ultra-Bold"/>
                <a:cs typeface="Codec Pro Ultra-Bold"/>
                <a:sym typeface="Codec Pro Ultra-Bold"/>
              </a:rPr>
              <a:t>PROJETO DE CIDADE INTELIGENTE</a:t>
            </a:r>
          </a:p>
        </p:txBody>
      </p:sp>
      <p:sp>
        <p:nvSpPr>
          <p:cNvPr name="TextBox 9" id="9"/>
          <p:cNvSpPr txBox="true"/>
          <p:nvPr/>
        </p:nvSpPr>
        <p:spPr>
          <a:xfrm rot="0">
            <a:off x="1800225" y="8457565"/>
            <a:ext cx="7496175" cy="477520"/>
          </a:xfrm>
          <a:prstGeom prst="rect">
            <a:avLst/>
          </a:prstGeom>
        </p:spPr>
        <p:txBody>
          <a:bodyPr anchor="t" rtlCol="false" tIns="0" lIns="0" bIns="0" rIns="0">
            <a:spAutoFit/>
          </a:bodyPr>
          <a:lstStyle/>
          <a:p>
            <a:pPr algn="ctr" marL="0" indent="0" lvl="0">
              <a:lnSpc>
                <a:spcPts val="3499"/>
              </a:lnSpc>
              <a:spcBef>
                <a:spcPct val="0"/>
              </a:spcBef>
            </a:pPr>
            <a:r>
              <a:rPr lang="en-US" b="true" sz="2799">
                <a:solidFill>
                  <a:srgbClr val="C8E6C9"/>
                </a:solidFill>
                <a:latin typeface="Codec Pro Ultra-Bold"/>
                <a:ea typeface="Codec Pro Ultra-Bold"/>
                <a:cs typeface="Codec Pro Ultra-Bold"/>
                <a:sym typeface="Codec Pro Ultra-Bold"/>
              </a:rPr>
              <a:t>Sensor IoT para Grande São Paulo</a:t>
            </a:r>
          </a:p>
        </p:txBody>
      </p:sp>
      <p:sp>
        <p:nvSpPr>
          <p:cNvPr name="TextBox 10" id="10"/>
          <p:cNvSpPr txBox="true"/>
          <p:nvPr/>
        </p:nvSpPr>
        <p:spPr>
          <a:xfrm rot="0">
            <a:off x="1449106" y="6780064"/>
            <a:ext cx="8797150" cy="1598295"/>
          </a:xfrm>
          <a:prstGeom prst="rect">
            <a:avLst/>
          </a:prstGeom>
        </p:spPr>
        <p:txBody>
          <a:bodyPr anchor="t" rtlCol="false" tIns="0" lIns="0" bIns="0" rIns="0">
            <a:spAutoFit/>
          </a:bodyPr>
          <a:lstStyle/>
          <a:p>
            <a:pPr algn="ctr">
              <a:lnSpc>
                <a:spcPts val="3120"/>
              </a:lnSpc>
              <a:spcBef>
                <a:spcPct val="0"/>
              </a:spcBef>
            </a:pPr>
            <a:r>
              <a:rPr lang="en-US" sz="2400">
                <a:solidFill>
                  <a:srgbClr val="C8E6C9"/>
                </a:solidFill>
                <a:latin typeface="Codec Pro"/>
                <a:ea typeface="Codec Pro"/>
                <a:cs typeface="Codec Pro"/>
                <a:sym typeface="Codec Pro"/>
              </a:rPr>
              <a:t>R</a:t>
            </a:r>
            <a:r>
              <a:rPr lang="en-US" sz="2400">
                <a:solidFill>
                  <a:srgbClr val="C8E6C9"/>
                </a:solidFill>
                <a:latin typeface="Codec Pro"/>
                <a:ea typeface="Codec Pro"/>
                <a:cs typeface="Codec Pro"/>
                <a:sym typeface="Codec Pro"/>
              </a:rPr>
              <a:t>odolfo Regis de Souza — RA: 825113514 </a:t>
            </a:r>
          </a:p>
          <a:p>
            <a:pPr algn="ctr">
              <a:lnSpc>
                <a:spcPts val="3120"/>
              </a:lnSpc>
              <a:spcBef>
                <a:spcPct val="0"/>
              </a:spcBef>
            </a:pPr>
            <a:r>
              <a:rPr lang="en-US" sz="2400">
                <a:solidFill>
                  <a:srgbClr val="C8E6C9"/>
                </a:solidFill>
                <a:latin typeface="Codec Pro"/>
                <a:ea typeface="Codec Pro"/>
                <a:cs typeface="Codec Pro"/>
                <a:sym typeface="Codec Pro"/>
              </a:rPr>
              <a:t>Gabriel Souza Santos — RA: 825113168 </a:t>
            </a:r>
          </a:p>
          <a:p>
            <a:pPr algn="ctr">
              <a:lnSpc>
                <a:spcPts val="3120"/>
              </a:lnSpc>
              <a:spcBef>
                <a:spcPct val="0"/>
              </a:spcBef>
            </a:pPr>
            <a:r>
              <a:rPr lang="en-US" sz="2400">
                <a:solidFill>
                  <a:srgbClr val="C8E6C9"/>
                </a:solidFill>
                <a:latin typeface="Codec Pro"/>
                <a:ea typeface="Codec Pro"/>
                <a:cs typeface="Codec Pro"/>
                <a:sym typeface="Codec Pro"/>
              </a:rPr>
              <a:t>Sergio Rycbczak Junior — RA: 825154823 </a:t>
            </a:r>
          </a:p>
          <a:p>
            <a:pPr algn="ctr">
              <a:lnSpc>
                <a:spcPts val="3120"/>
              </a:lnSpc>
              <a:spcBef>
                <a:spcPct val="0"/>
              </a:spcBef>
            </a:pPr>
            <a:r>
              <a:rPr lang="en-US" sz="2400">
                <a:solidFill>
                  <a:srgbClr val="C8E6C9"/>
                </a:solidFill>
                <a:latin typeface="Codec Pro"/>
                <a:ea typeface="Codec Pro"/>
                <a:cs typeface="Codec Pro"/>
                <a:sym typeface="Codec Pro"/>
              </a:rPr>
              <a:t>Pietro Oliveira Silva — RA: 825113483</a:t>
            </a:r>
          </a:p>
        </p:txBody>
      </p:sp>
      <p:sp>
        <p:nvSpPr>
          <p:cNvPr name="TextBox 11" id="11"/>
          <p:cNvSpPr txBox="true"/>
          <p:nvPr/>
        </p:nvSpPr>
        <p:spPr>
          <a:xfrm rot="0">
            <a:off x="666750" y="9553575"/>
            <a:ext cx="16954500" cy="426720"/>
          </a:xfrm>
          <a:prstGeom prst="rect">
            <a:avLst/>
          </a:prstGeom>
        </p:spPr>
        <p:txBody>
          <a:bodyPr anchor="t" rtlCol="false" tIns="0" lIns="0" bIns="0" rIns="0">
            <a:spAutoFit/>
          </a:bodyPr>
          <a:lstStyle/>
          <a:p>
            <a:pPr algn="ctr">
              <a:lnSpc>
                <a:spcPts val="3120"/>
              </a:lnSpc>
              <a:spcBef>
                <a:spcPct val="0"/>
              </a:spcBef>
            </a:pPr>
            <a:r>
              <a:rPr lang="en-US" sz="2400">
                <a:solidFill>
                  <a:srgbClr val="C8E6C9"/>
                </a:solidFill>
                <a:latin typeface="Codec Pro"/>
                <a:ea typeface="Codec Pro"/>
                <a:cs typeface="Codec Pro"/>
                <a:sym typeface="Codec Pro"/>
              </a:rPr>
              <a:t>Texto do seu parágrafo</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766603"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C8E6C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0796B"/>
            </a:solidFill>
          </p:spPr>
        </p:sp>
      </p:grpSp>
      <p:sp>
        <p:nvSpPr>
          <p:cNvPr name="TextBox 5" id="5"/>
          <p:cNvSpPr txBox="true"/>
          <p:nvPr/>
        </p:nvSpPr>
        <p:spPr>
          <a:xfrm rot="0">
            <a:off x="666750" y="4676775"/>
            <a:ext cx="6770012" cy="876300"/>
          </a:xfrm>
          <a:prstGeom prst="rect">
            <a:avLst/>
          </a:prstGeom>
        </p:spPr>
        <p:txBody>
          <a:bodyPr anchor="t" rtlCol="false" tIns="0" lIns="0" bIns="0" rIns="0">
            <a:spAutoFit/>
          </a:bodyPr>
          <a:lstStyle/>
          <a:p>
            <a:pPr algn="ctr" marL="0" indent="0" lvl="0">
              <a:lnSpc>
                <a:spcPts val="6480"/>
              </a:lnSpc>
            </a:pPr>
            <a:r>
              <a:rPr lang="en-US" b="true" sz="5400" spc="-135">
                <a:solidFill>
                  <a:srgbClr val="00796B"/>
                </a:solidFill>
                <a:latin typeface="Gatwick Ultra-Bold"/>
                <a:ea typeface="Gatwick Ultra-Bold"/>
                <a:cs typeface="Gatwick Ultra-Bold"/>
                <a:sym typeface="Gatwick Ultra-Bold"/>
              </a:rPr>
              <a:t>INTRODUÇÃO</a:t>
            </a:r>
          </a:p>
        </p:txBody>
      </p:sp>
      <p:grpSp>
        <p:nvGrpSpPr>
          <p:cNvPr name="Group 6" id="6"/>
          <p:cNvGrpSpPr/>
          <p:nvPr/>
        </p:nvGrpSpPr>
        <p:grpSpPr>
          <a:xfrm rot="0">
            <a:off x="7436762" y="1562100"/>
            <a:ext cx="9051013" cy="7162800"/>
            <a:chOff x="0" y="0"/>
            <a:chExt cx="2383806" cy="1886499"/>
          </a:xfrm>
        </p:grpSpPr>
        <p:sp>
          <p:nvSpPr>
            <p:cNvPr name="Freeform 7" id="7"/>
            <p:cNvSpPr/>
            <p:nvPr/>
          </p:nvSpPr>
          <p:spPr>
            <a:xfrm flipH="false" flipV="false" rot="0">
              <a:off x="0" y="0"/>
              <a:ext cx="2383806" cy="1886499"/>
            </a:xfrm>
            <a:custGeom>
              <a:avLst/>
              <a:gdLst/>
              <a:ahLst/>
              <a:cxnLst/>
              <a:rect r="r" b="b" t="t" l="l"/>
              <a:pathLst>
                <a:path h="1886499" w="2383806">
                  <a:moveTo>
                    <a:pt x="42768" y="0"/>
                  </a:moveTo>
                  <a:lnTo>
                    <a:pt x="2341038" y="0"/>
                  </a:lnTo>
                  <a:cubicBezTo>
                    <a:pt x="2364658" y="0"/>
                    <a:pt x="2383806" y="19148"/>
                    <a:pt x="2383806" y="42768"/>
                  </a:cubicBezTo>
                  <a:lnTo>
                    <a:pt x="2383806" y="1843730"/>
                  </a:lnTo>
                  <a:cubicBezTo>
                    <a:pt x="2383806" y="1867351"/>
                    <a:pt x="2364658" y="1886499"/>
                    <a:pt x="2341038" y="1886499"/>
                  </a:cubicBezTo>
                  <a:lnTo>
                    <a:pt x="42768" y="1886499"/>
                  </a:lnTo>
                  <a:cubicBezTo>
                    <a:pt x="19148" y="1886499"/>
                    <a:pt x="0" y="1867351"/>
                    <a:pt x="0" y="1843730"/>
                  </a:cubicBezTo>
                  <a:lnTo>
                    <a:pt x="0" y="42768"/>
                  </a:lnTo>
                  <a:cubicBezTo>
                    <a:pt x="0" y="19148"/>
                    <a:pt x="19148" y="0"/>
                    <a:pt x="42768"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383806"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659702" y="2204720"/>
            <a:ext cx="8290275" cy="5820410"/>
          </a:xfrm>
          <a:prstGeom prst="rect">
            <a:avLst/>
          </a:prstGeom>
        </p:spPr>
        <p:txBody>
          <a:bodyPr anchor="t" rtlCol="false" tIns="0" lIns="0" bIns="0" rIns="0">
            <a:spAutoFit/>
          </a:bodyPr>
          <a:lstStyle/>
          <a:p>
            <a:pPr algn="ctr" marL="0" indent="0" lvl="0">
              <a:lnSpc>
                <a:spcPts val="2860"/>
              </a:lnSpc>
            </a:pPr>
            <a:r>
              <a:rPr lang="en-US" sz="2200">
                <a:solidFill>
                  <a:srgbClr val="000000"/>
                </a:solidFill>
                <a:latin typeface="Codec Pro"/>
                <a:ea typeface="Codec Pro"/>
                <a:cs typeface="Codec Pro"/>
                <a:sym typeface="Codec Pro"/>
              </a:rPr>
              <a:t>Com o</a:t>
            </a:r>
            <a:r>
              <a:rPr lang="en-US" sz="2200">
                <a:solidFill>
                  <a:srgbClr val="000000"/>
                </a:solidFill>
                <a:latin typeface="Codec Pro"/>
                <a:ea typeface="Codec Pro"/>
                <a:cs typeface="Codec Pro"/>
                <a:sym typeface="Codec Pro"/>
              </a:rPr>
              <a:t> crescimento populacional e a urbanização a</a:t>
            </a:r>
            <a:r>
              <a:rPr lang="en-US" sz="2200">
                <a:solidFill>
                  <a:srgbClr val="000000"/>
                </a:solidFill>
                <a:latin typeface="Codec Pro"/>
                <a:ea typeface="Codec Pro"/>
                <a:cs typeface="Codec Pro"/>
                <a:sym typeface="Codec Pro"/>
              </a:rPr>
              <a:t>ce</a:t>
            </a:r>
            <a:r>
              <a:rPr lang="en-US" sz="2200">
                <a:solidFill>
                  <a:srgbClr val="000000"/>
                </a:solidFill>
                <a:latin typeface="Codec Pro"/>
                <a:ea typeface="Codec Pro"/>
                <a:cs typeface="Codec Pro"/>
                <a:sym typeface="Codec Pro"/>
              </a:rPr>
              <a:t>l</a:t>
            </a:r>
            <a:r>
              <a:rPr lang="en-US" sz="2200">
                <a:solidFill>
                  <a:srgbClr val="000000"/>
                </a:solidFill>
                <a:latin typeface="Codec Pro"/>
                <a:ea typeface="Codec Pro"/>
                <a:cs typeface="Codec Pro"/>
                <a:sym typeface="Codec Pro"/>
              </a:rPr>
              <a:t>e</a:t>
            </a:r>
            <a:r>
              <a:rPr lang="en-US" sz="2200">
                <a:solidFill>
                  <a:srgbClr val="000000"/>
                </a:solidFill>
                <a:latin typeface="Codec Pro"/>
                <a:ea typeface="Codec Pro"/>
                <a:cs typeface="Codec Pro"/>
                <a:sym typeface="Codec Pro"/>
              </a:rPr>
              <a:t>r</a:t>
            </a:r>
            <a:r>
              <a:rPr lang="en-US" sz="2200">
                <a:solidFill>
                  <a:srgbClr val="000000"/>
                </a:solidFill>
                <a:latin typeface="Codec Pro"/>
                <a:ea typeface="Codec Pro"/>
                <a:cs typeface="Codec Pro"/>
                <a:sym typeface="Codec Pro"/>
              </a:rPr>
              <a:t>a</a:t>
            </a:r>
            <a:r>
              <a:rPr lang="en-US" sz="2200">
                <a:solidFill>
                  <a:srgbClr val="000000"/>
                </a:solidFill>
                <a:latin typeface="Codec Pro"/>
                <a:ea typeface="Codec Pro"/>
                <a:cs typeface="Codec Pro"/>
                <a:sym typeface="Codec Pro"/>
              </a:rPr>
              <a:t>d</a:t>
            </a:r>
            <a:r>
              <a:rPr lang="en-US" sz="2200">
                <a:solidFill>
                  <a:srgbClr val="000000"/>
                </a:solidFill>
                <a:latin typeface="Codec Pro"/>
                <a:ea typeface="Codec Pro"/>
                <a:cs typeface="Codec Pro"/>
                <a:sym typeface="Codec Pro"/>
              </a:rPr>
              <a:t>a</a:t>
            </a:r>
            <a:r>
              <a:rPr lang="en-US" sz="2200">
                <a:solidFill>
                  <a:srgbClr val="000000"/>
                </a:solidFill>
                <a:latin typeface="Codec Pro"/>
                <a:ea typeface="Codec Pro"/>
                <a:cs typeface="Codec Pro"/>
                <a:sym typeface="Codec Pro"/>
              </a:rPr>
              <a:t> d</a:t>
            </a:r>
            <a:r>
              <a:rPr lang="en-US" sz="2200">
                <a:solidFill>
                  <a:srgbClr val="000000"/>
                </a:solidFill>
                <a:latin typeface="Codec Pro"/>
                <a:ea typeface="Codec Pro"/>
                <a:cs typeface="Codec Pro"/>
                <a:sym typeface="Codec Pro"/>
              </a:rPr>
              <a:t>as</a:t>
            </a:r>
            <a:r>
              <a:rPr lang="en-US" sz="2200">
                <a:solidFill>
                  <a:srgbClr val="000000"/>
                </a:solidFill>
                <a:latin typeface="Codec Pro"/>
                <a:ea typeface="Codec Pro"/>
                <a:cs typeface="Codec Pro"/>
                <a:sym typeface="Codec Pro"/>
              </a:rPr>
              <a:t> grandes cidades aumentam os desafios relacionados à infraestrutura e à segurança civil. No contexto de Cidades Inteligentes, tecnologias digitais e IoT permitem a coleta de dados em tempo real, possibilitando uma gestão urbana mais eficiente. Mesmo com avanços tecnológicos, São Paulo enfrenta graves problemas de alagamentos todos os anos. No Brasil, os desastres climáticos cresceram 460% em comparação aos anos 1990, e na capital paulista o número de ocorrências aumenta cerca de 50% a cada ano. Apenas em 2013, os prejuízos causados por enchentes ultrapassaram R$ 762 milhões. O monitoramento atual não oferece a precisão e rapidez necessárias para decisões eficazes. Por isso, o Projeto Pluvius (AlertaSP) propõe uma solução baseada em sensores IoT para monitorar riscos de inundação e emitir alertas em tempo real.</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C8E6C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0796B"/>
            </a:solidFill>
          </p:spPr>
        </p:sp>
      </p:grpSp>
      <p:sp>
        <p:nvSpPr>
          <p:cNvPr name="TextBox 5" id="5"/>
          <p:cNvSpPr txBox="true"/>
          <p:nvPr/>
        </p:nvSpPr>
        <p:spPr>
          <a:xfrm rot="0">
            <a:off x="666750" y="4676775"/>
            <a:ext cx="6770012" cy="876300"/>
          </a:xfrm>
          <a:prstGeom prst="rect">
            <a:avLst/>
          </a:prstGeom>
        </p:spPr>
        <p:txBody>
          <a:bodyPr anchor="t" rtlCol="false" tIns="0" lIns="0" bIns="0" rIns="0">
            <a:spAutoFit/>
          </a:bodyPr>
          <a:lstStyle/>
          <a:p>
            <a:pPr algn="ctr" marL="0" indent="0" lvl="0">
              <a:lnSpc>
                <a:spcPts val="6480"/>
              </a:lnSpc>
            </a:pPr>
            <a:r>
              <a:rPr lang="en-US" b="true" sz="5400" spc="-135">
                <a:solidFill>
                  <a:srgbClr val="00796B"/>
                </a:solidFill>
                <a:latin typeface="Gatwick Ultra-Bold"/>
                <a:ea typeface="Gatwick Ultra-Bold"/>
                <a:cs typeface="Gatwick Ultra-Bold"/>
                <a:sym typeface="Gatwick Ultra-Bold"/>
              </a:rPr>
              <a:t>Metodologia</a:t>
            </a:r>
          </a:p>
        </p:txBody>
      </p:sp>
      <p:grpSp>
        <p:nvGrpSpPr>
          <p:cNvPr name="Group 6" id="6"/>
          <p:cNvGrpSpPr/>
          <p:nvPr/>
        </p:nvGrpSpPr>
        <p:grpSpPr>
          <a:xfrm rot="0">
            <a:off x="7436762" y="1562100"/>
            <a:ext cx="9051013" cy="7162800"/>
            <a:chOff x="0" y="0"/>
            <a:chExt cx="2383806" cy="1886499"/>
          </a:xfrm>
        </p:grpSpPr>
        <p:sp>
          <p:nvSpPr>
            <p:cNvPr name="Freeform 7" id="7"/>
            <p:cNvSpPr/>
            <p:nvPr/>
          </p:nvSpPr>
          <p:spPr>
            <a:xfrm flipH="false" flipV="false" rot="0">
              <a:off x="0" y="0"/>
              <a:ext cx="2383806" cy="1886499"/>
            </a:xfrm>
            <a:custGeom>
              <a:avLst/>
              <a:gdLst/>
              <a:ahLst/>
              <a:cxnLst/>
              <a:rect r="r" b="b" t="t" l="l"/>
              <a:pathLst>
                <a:path h="1886499" w="2383806">
                  <a:moveTo>
                    <a:pt x="42768" y="0"/>
                  </a:moveTo>
                  <a:lnTo>
                    <a:pt x="2341038" y="0"/>
                  </a:lnTo>
                  <a:cubicBezTo>
                    <a:pt x="2364658" y="0"/>
                    <a:pt x="2383806" y="19148"/>
                    <a:pt x="2383806" y="42768"/>
                  </a:cubicBezTo>
                  <a:lnTo>
                    <a:pt x="2383806" y="1843730"/>
                  </a:lnTo>
                  <a:cubicBezTo>
                    <a:pt x="2383806" y="1867351"/>
                    <a:pt x="2364658" y="1886499"/>
                    <a:pt x="2341038" y="1886499"/>
                  </a:cubicBezTo>
                  <a:lnTo>
                    <a:pt x="42768" y="1886499"/>
                  </a:lnTo>
                  <a:cubicBezTo>
                    <a:pt x="19148" y="1886499"/>
                    <a:pt x="0" y="1867351"/>
                    <a:pt x="0" y="1843730"/>
                  </a:cubicBezTo>
                  <a:lnTo>
                    <a:pt x="0" y="42768"/>
                  </a:lnTo>
                  <a:cubicBezTo>
                    <a:pt x="0" y="19148"/>
                    <a:pt x="19148" y="0"/>
                    <a:pt x="42768"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383806"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659702" y="2928620"/>
            <a:ext cx="8290275" cy="4372610"/>
          </a:xfrm>
          <a:prstGeom prst="rect">
            <a:avLst/>
          </a:prstGeom>
        </p:spPr>
        <p:txBody>
          <a:bodyPr anchor="t" rtlCol="false" tIns="0" lIns="0" bIns="0" rIns="0">
            <a:spAutoFit/>
          </a:bodyPr>
          <a:lstStyle/>
          <a:p>
            <a:pPr algn="ctr" marL="0" indent="0" lvl="0">
              <a:lnSpc>
                <a:spcPts val="2860"/>
              </a:lnSpc>
            </a:pPr>
            <a:r>
              <a:rPr lang="en-US" sz="2200">
                <a:solidFill>
                  <a:srgbClr val="000000"/>
                </a:solidFill>
                <a:latin typeface="Codec Pro"/>
                <a:ea typeface="Codec Pro"/>
                <a:cs typeface="Codec Pro"/>
                <a:sym typeface="Codec Pro"/>
              </a:rPr>
              <a:t>A metodologia do</a:t>
            </a:r>
            <a:r>
              <a:rPr lang="en-US" sz="2200">
                <a:solidFill>
                  <a:srgbClr val="000000"/>
                </a:solidFill>
                <a:latin typeface="Codec Pro"/>
                <a:ea typeface="Codec Pro"/>
                <a:cs typeface="Codec Pro"/>
                <a:sym typeface="Codec Pro"/>
              </a:rPr>
              <a:t> projeto foi baseada em uma abordagem aplic</a:t>
            </a:r>
            <a:r>
              <a:rPr lang="en-US" sz="2200">
                <a:solidFill>
                  <a:srgbClr val="000000"/>
                </a:solidFill>
                <a:latin typeface="Codec Pro"/>
                <a:ea typeface="Codec Pro"/>
                <a:cs typeface="Codec Pro"/>
                <a:sym typeface="Codec Pro"/>
              </a:rPr>
              <a:t>a</a:t>
            </a:r>
            <a:r>
              <a:rPr lang="en-US" sz="2200">
                <a:solidFill>
                  <a:srgbClr val="000000"/>
                </a:solidFill>
                <a:latin typeface="Codec Pro"/>
                <a:ea typeface="Codec Pro"/>
                <a:cs typeface="Codec Pro"/>
                <a:sym typeface="Codec Pro"/>
              </a:rPr>
              <a:t>d</a:t>
            </a:r>
            <a:r>
              <a:rPr lang="en-US" sz="2200">
                <a:solidFill>
                  <a:srgbClr val="000000"/>
                </a:solidFill>
                <a:latin typeface="Codec Pro"/>
                <a:ea typeface="Codec Pro"/>
                <a:cs typeface="Codec Pro"/>
                <a:sym typeface="Codec Pro"/>
              </a:rPr>
              <a:t>a,</a:t>
            </a:r>
            <a:r>
              <a:rPr lang="en-US" sz="2200">
                <a:solidFill>
                  <a:srgbClr val="000000"/>
                </a:solidFill>
                <a:latin typeface="Codec Pro"/>
                <a:ea typeface="Codec Pro"/>
                <a:cs typeface="Codec Pro"/>
                <a:sym typeface="Codec Pro"/>
              </a:rPr>
              <a:t> dividida em três etapas: pesquisa, análise e proposição. Primeiro, foi realizado um levantamento bibliográfico sobre IoT, Cidades Inteligentes e sistemas de monitoramento hidrológico, envolvendo estudos de Singapura, Nova York, Dublin, Copenhagen e cidades europeias. Em seguida, analisou-se o cenário de São Paulo, considerando clima, geografia, custos, infraestrutura e as necessidades de órgãos como SABESP e Defesa Civil. Por fim, foi modelada a solução, definindo arquitetura IoT, tipos de sensores, fluxo de dados, mecanismos analíticos e modelo de alerta, priorizando baixo custo, escalabilidade e robustez.</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0796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8E6C9"/>
            </a:solidFill>
          </p:spPr>
        </p:sp>
      </p:grpSp>
      <p:sp>
        <p:nvSpPr>
          <p:cNvPr name="AutoShape 5" id="5"/>
          <p:cNvSpPr/>
          <p:nvPr/>
        </p:nvSpPr>
        <p:spPr>
          <a:xfrm>
            <a:off x="2436774" y="5162550"/>
            <a:ext cx="15028241" cy="0"/>
          </a:xfrm>
          <a:prstGeom prst="line">
            <a:avLst/>
          </a:prstGeom>
          <a:ln cap="flat" w="38100">
            <a:solidFill>
              <a:srgbClr val="C8E6C9"/>
            </a:solidFill>
            <a:prstDash val="solid"/>
            <a:headEnd type="none" len="sm" w="sm"/>
            <a:tailEnd type="none" len="sm" w="sm"/>
          </a:ln>
        </p:spPr>
      </p:sp>
      <p:grpSp>
        <p:nvGrpSpPr>
          <p:cNvPr name="Group 6" id="6"/>
          <p:cNvGrpSpPr/>
          <p:nvPr/>
        </p:nvGrpSpPr>
        <p:grpSpPr>
          <a:xfrm rot="0">
            <a:off x="2111931" y="5000128"/>
            <a:ext cx="324843" cy="32484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D40"/>
            </a:solidFill>
            <a:ln w="38100" cap="sq">
              <a:solidFill>
                <a:srgbClr val="000000"/>
              </a:solidFill>
              <a:prstDash val="solid"/>
              <a:miter/>
            </a:ln>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grpSp>
        <p:nvGrpSpPr>
          <p:cNvPr name="Group 9" id="9"/>
          <p:cNvGrpSpPr/>
          <p:nvPr/>
        </p:nvGrpSpPr>
        <p:grpSpPr>
          <a:xfrm rot="0">
            <a:off x="7141334" y="5000128"/>
            <a:ext cx="324843" cy="32484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D40"/>
            </a:solidFill>
            <a:ln w="38100" cap="sq">
              <a:solidFill>
                <a:srgbClr val="000000"/>
              </a:solidFill>
              <a:prstDash val="solid"/>
              <a:miter/>
            </a:ln>
          </p:spPr>
        </p:sp>
        <p:sp>
          <p:nvSpPr>
            <p:cNvPr name="TextBox 11" id="11"/>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grpSp>
        <p:nvGrpSpPr>
          <p:cNvPr name="Group 12" id="12"/>
          <p:cNvGrpSpPr/>
          <p:nvPr/>
        </p:nvGrpSpPr>
        <p:grpSpPr>
          <a:xfrm rot="0">
            <a:off x="12176789" y="5000128"/>
            <a:ext cx="324843" cy="32484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D40"/>
            </a:solidFill>
            <a:ln w="38100" cap="sq">
              <a:solidFill>
                <a:srgbClr val="000000"/>
              </a:solidFill>
              <a:prstDash val="solid"/>
              <a:miter/>
            </a:ln>
          </p:spPr>
        </p:sp>
        <p:sp>
          <p:nvSpPr>
            <p:cNvPr name="TextBox 14" id="14"/>
            <p:cNvSpPr txBox="true"/>
            <p:nvPr/>
          </p:nvSpPr>
          <p:spPr>
            <a:xfrm>
              <a:off x="76200" y="9525"/>
              <a:ext cx="660400" cy="727075"/>
            </a:xfrm>
            <a:prstGeom prst="rect">
              <a:avLst/>
            </a:prstGeom>
          </p:spPr>
          <p:txBody>
            <a:bodyPr anchor="ctr" rtlCol="false" tIns="50800" lIns="50800" bIns="50800" rIns="50800"/>
            <a:lstStyle/>
            <a:p>
              <a:pPr algn="ctr">
                <a:lnSpc>
                  <a:spcPts val="3120"/>
                </a:lnSpc>
              </a:pPr>
            </a:p>
          </p:txBody>
        </p:sp>
      </p:grpSp>
      <p:sp>
        <p:nvSpPr>
          <p:cNvPr name="TextBox 15" id="15"/>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8E6C9"/>
                </a:solidFill>
                <a:latin typeface="Gatwick Ultra-Bold"/>
                <a:ea typeface="Gatwick Ultra-Bold"/>
                <a:cs typeface="Gatwick Ultra-Bold"/>
                <a:sym typeface="Gatwick Ultra-Bold"/>
              </a:rPr>
              <a:t>Plano de Implementação</a:t>
            </a:r>
          </a:p>
        </p:txBody>
      </p:sp>
      <p:sp>
        <p:nvSpPr>
          <p:cNvPr name="TextBox 16" id="16"/>
          <p:cNvSpPr txBox="true"/>
          <p:nvPr/>
        </p:nvSpPr>
        <p:spPr>
          <a:xfrm rot="0">
            <a:off x="2105025" y="5972175"/>
            <a:ext cx="4010025" cy="81724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C8E6C9"/>
                </a:solidFill>
                <a:latin typeface="Codec Pro"/>
                <a:ea typeface="Codec Pro"/>
                <a:cs typeface="Codec Pro"/>
                <a:sym typeface="Codec Pro"/>
              </a:rPr>
              <a:t>Testes de sensores em áreas críticas</a:t>
            </a:r>
          </a:p>
        </p:txBody>
      </p:sp>
      <p:sp>
        <p:nvSpPr>
          <p:cNvPr name="TextBox 17" id="17"/>
          <p:cNvSpPr txBox="true"/>
          <p:nvPr/>
        </p:nvSpPr>
        <p:spPr>
          <a:xfrm rot="0">
            <a:off x="7136641" y="5972175"/>
            <a:ext cx="4014718" cy="81724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C8E6C9"/>
                </a:solidFill>
                <a:latin typeface="Codec Pro"/>
                <a:ea typeface="Codec Pro"/>
                <a:cs typeface="Codec Pro"/>
                <a:sym typeface="Codec Pro"/>
              </a:rPr>
              <a:t>Ampliação da rede para toda a cidade</a:t>
            </a:r>
          </a:p>
        </p:txBody>
      </p:sp>
      <p:sp>
        <p:nvSpPr>
          <p:cNvPr name="TextBox 18" id="18"/>
          <p:cNvSpPr txBox="true"/>
          <p:nvPr/>
        </p:nvSpPr>
        <p:spPr>
          <a:xfrm rot="0">
            <a:off x="12176789" y="5972175"/>
            <a:ext cx="4010025" cy="817245"/>
          </a:xfrm>
          <a:prstGeom prst="rect">
            <a:avLst/>
          </a:prstGeom>
        </p:spPr>
        <p:txBody>
          <a:bodyPr anchor="t" rtlCol="false" tIns="0" lIns="0" bIns="0" rIns="0">
            <a:spAutoFit/>
          </a:bodyPr>
          <a:lstStyle/>
          <a:p>
            <a:pPr algn="l" marL="0" indent="0" lvl="0">
              <a:lnSpc>
                <a:spcPts val="3120"/>
              </a:lnSpc>
              <a:spcBef>
                <a:spcPct val="0"/>
              </a:spcBef>
            </a:pPr>
            <a:r>
              <a:rPr lang="en-US" sz="2400" strike="noStrike" u="none">
                <a:solidFill>
                  <a:srgbClr val="C8E6C9"/>
                </a:solidFill>
                <a:latin typeface="Codec Pro"/>
                <a:ea typeface="Codec Pro"/>
                <a:cs typeface="Codec Pro"/>
                <a:sym typeface="Codec Pro"/>
              </a:rPr>
              <a:t>Plataforma unificada para integração de dados</a:t>
            </a:r>
          </a:p>
        </p:txBody>
      </p:sp>
      <p:sp>
        <p:nvSpPr>
          <p:cNvPr name="TextBox 19" id="19"/>
          <p:cNvSpPr txBox="true"/>
          <p:nvPr/>
        </p:nvSpPr>
        <p:spPr>
          <a:xfrm rot="0">
            <a:off x="2105025" y="4171950"/>
            <a:ext cx="4010025" cy="436245"/>
          </a:xfrm>
          <a:prstGeom prst="rect">
            <a:avLst/>
          </a:prstGeom>
        </p:spPr>
        <p:txBody>
          <a:bodyPr anchor="t" rtlCol="false" tIns="0" lIns="0" bIns="0" rIns="0">
            <a:spAutoFit/>
          </a:bodyPr>
          <a:lstStyle/>
          <a:p>
            <a:pPr algn="l" marL="0" indent="0" lvl="0">
              <a:lnSpc>
                <a:spcPts val="3120"/>
              </a:lnSpc>
              <a:spcBef>
                <a:spcPct val="0"/>
              </a:spcBef>
            </a:pPr>
            <a:r>
              <a:rPr lang="en-US" b="true" sz="2400" strike="noStrike" u="none">
                <a:solidFill>
                  <a:srgbClr val="C8E6C9"/>
                </a:solidFill>
                <a:latin typeface="Codec Pro Ultra-Bold"/>
                <a:ea typeface="Codec Pro Ultra-Bold"/>
                <a:cs typeface="Codec Pro Ultra-Bold"/>
                <a:sym typeface="Codec Pro Ultra-Bold"/>
              </a:rPr>
              <a:t>Fase 1</a:t>
            </a:r>
          </a:p>
        </p:txBody>
      </p:sp>
      <p:sp>
        <p:nvSpPr>
          <p:cNvPr name="TextBox 20" id="20"/>
          <p:cNvSpPr txBox="true"/>
          <p:nvPr/>
        </p:nvSpPr>
        <p:spPr>
          <a:xfrm rot="0">
            <a:off x="7141334" y="4171950"/>
            <a:ext cx="4010025" cy="436245"/>
          </a:xfrm>
          <a:prstGeom prst="rect">
            <a:avLst/>
          </a:prstGeom>
        </p:spPr>
        <p:txBody>
          <a:bodyPr anchor="t" rtlCol="false" tIns="0" lIns="0" bIns="0" rIns="0">
            <a:spAutoFit/>
          </a:bodyPr>
          <a:lstStyle/>
          <a:p>
            <a:pPr algn="l" marL="0" indent="0" lvl="0">
              <a:lnSpc>
                <a:spcPts val="3120"/>
              </a:lnSpc>
              <a:spcBef>
                <a:spcPct val="0"/>
              </a:spcBef>
            </a:pPr>
            <a:r>
              <a:rPr lang="en-US" b="true" sz="2400" strike="noStrike" u="none">
                <a:solidFill>
                  <a:srgbClr val="C8E6C9"/>
                </a:solidFill>
                <a:latin typeface="Codec Pro Ultra-Bold"/>
                <a:ea typeface="Codec Pro Ultra-Bold"/>
                <a:cs typeface="Codec Pro Ultra-Bold"/>
                <a:sym typeface="Codec Pro Ultra-Bold"/>
              </a:rPr>
              <a:t>Fase 2</a:t>
            </a:r>
          </a:p>
        </p:txBody>
      </p:sp>
      <p:sp>
        <p:nvSpPr>
          <p:cNvPr name="TextBox 21" id="21"/>
          <p:cNvSpPr txBox="true"/>
          <p:nvPr/>
        </p:nvSpPr>
        <p:spPr>
          <a:xfrm rot="0">
            <a:off x="12172950" y="4220528"/>
            <a:ext cx="4013864" cy="436245"/>
          </a:xfrm>
          <a:prstGeom prst="rect">
            <a:avLst/>
          </a:prstGeom>
        </p:spPr>
        <p:txBody>
          <a:bodyPr anchor="t" rtlCol="false" tIns="0" lIns="0" bIns="0" rIns="0">
            <a:spAutoFit/>
          </a:bodyPr>
          <a:lstStyle/>
          <a:p>
            <a:pPr algn="l" marL="0" indent="0" lvl="0">
              <a:lnSpc>
                <a:spcPts val="3120"/>
              </a:lnSpc>
              <a:spcBef>
                <a:spcPct val="0"/>
              </a:spcBef>
            </a:pPr>
            <a:r>
              <a:rPr lang="en-US" b="true" sz="2400" strike="noStrike" u="none">
                <a:solidFill>
                  <a:srgbClr val="C8E6C9"/>
                </a:solidFill>
                <a:latin typeface="Codec Pro Ultra-Bold"/>
                <a:ea typeface="Codec Pro Ultra-Bold"/>
                <a:cs typeface="Codec Pro Ultra-Bold"/>
                <a:sym typeface="Codec Pro Ultra-Bold"/>
              </a:rPr>
              <a:t>Fase 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0796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8E6C9"/>
            </a:solidFill>
          </p:spPr>
        </p:sp>
      </p:grpSp>
      <p:grpSp>
        <p:nvGrpSpPr>
          <p:cNvPr name="Group 5" id="5"/>
          <p:cNvGrpSpPr/>
          <p:nvPr/>
        </p:nvGrpSpPr>
        <p:grpSpPr>
          <a:xfrm rot="0">
            <a:off x="1800225" y="3352800"/>
            <a:ext cx="4619625" cy="3231344"/>
            <a:chOff x="0" y="0"/>
            <a:chExt cx="650279" cy="454859"/>
          </a:xfrm>
        </p:grpSpPr>
        <p:sp>
          <p:nvSpPr>
            <p:cNvPr name="Freeform 6" id="6"/>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2"/>
              <a:stretch>
                <a:fillRect l="-232" t="0" r="-232" b="0"/>
              </a:stretch>
            </a:blipFill>
            <a:ln w="38100" cap="rnd">
              <a:solidFill>
                <a:srgbClr val="000000"/>
              </a:solidFill>
              <a:prstDash val="solid"/>
              <a:round/>
            </a:ln>
          </p:spPr>
        </p:sp>
      </p:grpSp>
      <p:grpSp>
        <p:nvGrpSpPr>
          <p:cNvPr name="Group 7" id="7"/>
          <p:cNvGrpSpPr/>
          <p:nvPr/>
        </p:nvGrpSpPr>
        <p:grpSpPr>
          <a:xfrm rot="0">
            <a:off x="6834188" y="3352800"/>
            <a:ext cx="4619625" cy="3231344"/>
            <a:chOff x="0" y="0"/>
            <a:chExt cx="650279" cy="454859"/>
          </a:xfrm>
        </p:grpSpPr>
        <p:sp>
          <p:nvSpPr>
            <p:cNvPr name="Freeform 8" id="8"/>
            <p:cNvSpPr/>
            <p:nvPr/>
          </p:nvSpPr>
          <p:spPr>
            <a:xfrm flipH="false" flipV="false" rot="0">
              <a:off x="0" y="0"/>
              <a:ext cx="650279" cy="454859"/>
            </a:xfrm>
            <a:custGeom>
              <a:avLst/>
              <a:gdLst/>
              <a:ahLst/>
              <a:cxnLst/>
              <a:rect r="r" b="b" t="t" l="l"/>
              <a:pathLst>
                <a:path h="454859" w="650279">
                  <a:moveTo>
                    <a:pt x="83794" y="0"/>
                  </a:moveTo>
                  <a:lnTo>
                    <a:pt x="566485" y="0"/>
                  </a:lnTo>
                  <a:cubicBezTo>
                    <a:pt x="588709" y="0"/>
                    <a:pt x="610022" y="8828"/>
                    <a:pt x="625737" y="24543"/>
                  </a:cubicBezTo>
                  <a:cubicBezTo>
                    <a:pt x="641451" y="40257"/>
                    <a:pt x="650279" y="61570"/>
                    <a:pt x="650279" y="83794"/>
                  </a:cubicBezTo>
                  <a:lnTo>
                    <a:pt x="650279" y="371065"/>
                  </a:lnTo>
                  <a:cubicBezTo>
                    <a:pt x="650279" y="393288"/>
                    <a:pt x="641451" y="414602"/>
                    <a:pt x="625737" y="430316"/>
                  </a:cubicBezTo>
                  <a:cubicBezTo>
                    <a:pt x="610022" y="446030"/>
                    <a:pt x="588709" y="454859"/>
                    <a:pt x="566485" y="454859"/>
                  </a:cubicBezTo>
                  <a:lnTo>
                    <a:pt x="83794" y="454859"/>
                  </a:lnTo>
                  <a:cubicBezTo>
                    <a:pt x="61570" y="454859"/>
                    <a:pt x="40257" y="446030"/>
                    <a:pt x="24543" y="430316"/>
                  </a:cubicBezTo>
                  <a:cubicBezTo>
                    <a:pt x="8828" y="414602"/>
                    <a:pt x="0" y="393288"/>
                    <a:pt x="0" y="371065"/>
                  </a:cubicBezTo>
                  <a:lnTo>
                    <a:pt x="0" y="83794"/>
                  </a:lnTo>
                  <a:cubicBezTo>
                    <a:pt x="0" y="61570"/>
                    <a:pt x="8828" y="40257"/>
                    <a:pt x="24543" y="24543"/>
                  </a:cubicBezTo>
                  <a:cubicBezTo>
                    <a:pt x="40257" y="8828"/>
                    <a:pt x="61570" y="0"/>
                    <a:pt x="83794" y="0"/>
                  </a:cubicBezTo>
                  <a:close/>
                </a:path>
              </a:pathLst>
            </a:custGeom>
            <a:blipFill>
              <a:blip r:embed="rId3"/>
              <a:stretch>
                <a:fillRect l="-232" t="0" r="-232" b="0"/>
              </a:stretch>
            </a:blipFill>
            <a:ln w="38100" cap="rnd">
              <a:solidFill>
                <a:srgbClr val="000000"/>
              </a:solidFill>
              <a:prstDash val="solid"/>
              <a:round/>
            </a:ln>
          </p:spPr>
        </p:sp>
      </p:grpSp>
      <p:grpSp>
        <p:nvGrpSpPr>
          <p:cNvPr name="Group 9" id="9"/>
          <p:cNvGrpSpPr/>
          <p:nvPr/>
        </p:nvGrpSpPr>
        <p:grpSpPr>
          <a:xfrm rot="0">
            <a:off x="11865501" y="3352800"/>
            <a:ext cx="4623063" cy="3231344"/>
            <a:chOff x="0" y="0"/>
            <a:chExt cx="650763" cy="454859"/>
          </a:xfrm>
        </p:grpSpPr>
        <p:sp>
          <p:nvSpPr>
            <p:cNvPr name="Freeform 10" id="10"/>
            <p:cNvSpPr/>
            <p:nvPr/>
          </p:nvSpPr>
          <p:spPr>
            <a:xfrm flipH="false" flipV="false" rot="0">
              <a:off x="0" y="0"/>
              <a:ext cx="650763" cy="454859"/>
            </a:xfrm>
            <a:custGeom>
              <a:avLst/>
              <a:gdLst/>
              <a:ahLst/>
              <a:cxnLst/>
              <a:rect r="r" b="b" t="t" l="l"/>
              <a:pathLst>
                <a:path h="454859" w="650763">
                  <a:moveTo>
                    <a:pt x="83732" y="0"/>
                  </a:moveTo>
                  <a:lnTo>
                    <a:pt x="567032" y="0"/>
                  </a:lnTo>
                  <a:cubicBezTo>
                    <a:pt x="589239" y="0"/>
                    <a:pt x="610536" y="8822"/>
                    <a:pt x="626239" y="24524"/>
                  </a:cubicBezTo>
                  <a:cubicBezTo>
                    <a:pt x="641941" y="40227"/>
                    <a:pt x="650763" y="61525"/>
                    <a:pt x="650763" y="83732"/>
                  </a:cubicBezTo>
                  <a:lnTo>
                    <a:pt x="650763" y="371127"/>
                  </a:lnTo>
                  <a:cubicBezTo>
                    <a:pt x="650763" y="393334"/>
                    <a:pt x="641941" y="414631"/>
                    <a:pt x="626239" y="430334"/>
                  </a:cubicBezTo>
                  <a:cubicBezTo>
                    <a:pt x="610536" y="446037"/>
                    <a:pt x="589239" y="454859"/>
                    <a:pt x="567032" y="454859"/>
                  </a:cubicBezTo>
                  <a:lnTo>
                    <a:pt x="83732" y="454859"/>
                  </a:lnTo>
                  <a:cubicBezTo>
                    <a:pt x="61525" y="454859"/>
                    <a:pt x="40227" y="446037"/>
                    <a:pt x="24524" y="430334"/>
                  </a:cubicBezTo>
                  <a:cubicBezTo>
                    <a:pt x="8822" y="414631"/>
                    <a:pt x="0" y="393334"/>
                    <a:pt x="0" y="371127"/>
                  </a:cubicBezTo>
                  <a:lnTo>
                    <a:pt x="0" y="83732"/>
                  </a:lnTo>
                  <a:cubicBezTo>
                    <a:pt x="0" y="61525"/>
                    <a:pt x="8822" y="40227"/>
                    <a:pt x="24524" y="24524"/>
                  </a:cubicBezTo>
                  <a:cubicBezTo>
                    <a:pt x="40227" y="8822"/>
                    <a:pt x="61525" y="0"/>
                    <a:pt x="83732" y="0"/>
                  </a:cubicBezTo>
                  <a:close/>
                </a:path>
              </a:pathLst>
            </a:custGeom>
            <a:blipFill>
              <a:blip r:embed="rId4"/>
              <a:stretch>
                <a:fillRect l="-194" t="0" r="-194" b="0"/>
              </a:stretch>
            </a:blipFill>
            <a:ln w="38100" cap="rnd">
              <a:solidFill>
                <a:srgbClr val="000000"/>
              </a:solidFill>
              <a:prstDash val="solid"/>
              <a:round/>
            </a:ln>
          </p:spPr>
        </p:sp>
      </p:grpSp>
      <p:grpSp>
        <p:nvGrpSpPr>
          <p:cNvPr name="Group 11" id="11"/>
          <p:cNvGrpSpPr/>
          <p:nvPr/>
        </p:nvGrpSpPr>
        <p:grpSpPr>
          <a:xfrm rot="0">
            <a:off x="1800225" y="6934200"/>
            <a:ext cx="4619625" cy="1196340"/>
            <a:chOff x="0" y="0"/>
            <a:chExt cx="6159500" cy="1595120"/>
          </a:xfrm>
        </p:grpSpPr>
        <p:sp>
          <p:nvSpPr>
            <p:cNvPr name="TextBox 12" id="12"/>
            <p:cNvSpPr txBox="true"/>
            <p:nvPr/>
          </p:nvSpPr>
          <p:spPr>
            <a:xfrm rot="0">
              <a:off x="0" y="527685"/>
              <a:ext cx="6159500" cy="10674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Dados confiáveis para monitoramento eficiente</a:t>
              </a:r>
            </a:p>
          </p:txBody>
        </p:sp>
        <p:sp>
          <p:nvSpPr>
            <p:cNvPr name="TextBox 13" id="13"/>
            <p:cNvSpPr txBox="true"/>
            <p:nvPr/>
          </p:nvSpPr>
          <p:spPr>
            <a:xfrm rot="0">
              <a:off x="0" y="-66675"/>
              <a:ext cx="6159500" cy="5594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Precisão</a:t>
              </a:r>
            </a:p>
          </p:txBody>
        </p:sp>
      </p:grpSp>
      <p:grpSp>
        <p:nvGrpSpPr>
          <p:cNvPr name="Group 14" id="14"/>
          <p:cNvGrpSpPr/>
          <p:nvPr/>
        </p:nvGrpSpPr>
        <p:grpSpPr>
          <a:xfrm rot="0">
            <a:off x="6834188" y="6934200"/>
            <a:ext cx="4479254" cy="1196340"/>
            <a:chOff x="0" y="0"/>
            <a:chExt cx="5972338" cy="1595120"/>
          </a:xfrm>
        </p:grpSpPr>
        <p:sp>
          <p:nvSpPr>
            <p:cNvPr name="TextBox 15" id="15"/>
            <p:cNvSpPr txBox="true"/>
            <p:nvPr/>
          </p:nvSpPr>
          <p:spPr>
            <a:xfrm rot="0">
              <a:off x="0" y="527685"/>
              <a:ext cx="5972338" cy="10674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Transmissão sem fio em tempo real</a:t>
              </a:r>
            </a:p>
          </p:txBody>
        </p:sp>
        <p:sp>
          <p:nvSpPr>
            <p:cNvPr name="TextBox 16" id="16"/>
            <p:cNvSpPr txBox="true"/>
            <p:nvPr/>
          </p:nvSpPr>
          <p:spPr>
            <a:xfrm rot="0">
              <a:off x="0" y="-66675"/>
              <a:ext cx="5972338" cy="5594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Conectividade</a:t>
              </a:r>
            </a:p>
          </p:txBody>
        </p:sp>
      </p:grpSp>
      <p:grpSp>
        <p:nvGrpSpPr>
          <p:cNvPr name="Group 17" id="17"/>
          <p:cNvGrpSpPr/>
          <p:nvPr/>
        </p:nvGrpSpPr>
        <p:grpSpPr>
          <a:xfrm rot="0">
            <a:off x="11868150" y="6934200"/>
            <a:ext cx="4620413" cy="1196340"/>
            <a:chOff x="0" y="0"/>
            <a:chExt cx="6160551" cy="1595120"/>
          </a:xfrm>
        </p:grpSpPr>
        <p:sp>
          <p:nvSpPr>
            <p:cNvPr name="TextBox 18" id="18"/>
            <p:cNvSpPr txBox="true"/>
            <p:nvPr/>
          </p:nvSpPr>
          <p:spPr>
            <a:xfrm rot="0">
              <a:off x="0" y="527685"/>
              <a:ext cx="6160551" cy="10674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Resistência a condições climáticas adversas</a:t>
              </a:r>
            </a:p>
          </p:txBody>
        </p:sp>
        <p:sp>
          <p:nvSpPr>
            <p:cNvPr name="TextBox 19" id="19"/>
            <p:cNvSpPr txBox="true"/>
            <p:nvPr/>
          </p:nvSpPr>
          <p:spPr>
            <a:xfrm rot="0">
              <a:off x="0" y="-66675"/>
              <a:ext cx="6160551" cy="5594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Durabilidade</a:t>
              </a:r>
            </a:p>
          </p:txBody>
        </p:sp>
      </p:grpSp>
      <p:sp>
        <p:nvSpPr>
          <p:cNvPr name="TextBox 20" id="20"/>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8E6C9"/>
                </a:solidFill>
                <a:latin typeface="Gatwick Ultra-Bold"/>
                <a:ea typeface="Gatwick Ultra-Bold"/>
                <a:cs typeface="Gatwick Ultra-Bold"/>
                <a:sym typeface="Gatwick Ultra-Bold"/>
              </a:rPr>
              <a:t>Sensores Pluviométricos</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00796B"/>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C8E6C9"/>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spcBef>
                  <a:spcPct val="0"/>
                </a:spcBef>
              </a:pPr>
            </a:p>
          </p:txBody>
        </p:sp>
      </p:grpSp>
      <p:sp>
        <p:nvSpPr>
          <p:cNvPr name="TextBox 14" id="14"/>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C8E6C9"/>
                </a:solidFill>
                <a:latin typeface="Gatwick Ultra-Bold"/>
                <a:ea typeface="Gatwick Ultra-Bold"/>
                <a:cs typeface="Gatwick Ultra-Bold"/>
                <a:sym typeface="Gatwick Ultra-Bold"/>
              </a:rPr>
              <a:t>Solução: Rede de Sensores IoT</a:t>
            </a:r>
          </a:p>
        </p:txBody>
      </p:sp>
      <p:grpSp>
        <p:nvGrpSpPr>
          <p:cNvPr name="Group 15" id="15"/>
          <p:cNvGrpSpPr/>
          <p:nvPr/>
        </p:nvGrpSpPr>
        <p:grpSpPr>
          <a:xfrm rot="0">
            <a:off x="2178450" y="4248150"/>
            <a:ext cx="3961075" cy="3158463"/>
            <a:chOff x="0" y="0"/>
            <a:chExt cx="5281434" cy="4211284"/>
          </a:xfrm>
        </p:grpSpPr>
        <p:sp>
          <p:nvSpPr>
            <p:cNvPr name="TextBox 16" id="16"/>
            <p:cNvSpPr txBox="true"/>
            <p:nvPr/>
          </p:nvSpPr>
          <p:spPr>
            <a:xfrm rot="0">
              <a:off x="0" y="1061049"/>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A coleta de dados de pluviômetros permite um </a:t>
              </a:r>
              <a:r>
                <a:rPr lang="en-US" b="true" sz="2400">
                  <a:solidFill>
                    <a:srgbClr val="C8E6C9"/>
                  </a:solidFill>
                  <a:latin typeface="Codec Pro Bold"/>
                  <a:ea typeface="Codec Pro Bold"/>
                  <a:cs typeface="Codec Pro Bold"/>
                  <a:sym typeface="Codec Pro Bold"/>
                </a:rPr>
                <a:t>monitoramento constante</a:t>
              </a:r>
              <a:r>
                <a:rPr lang="en-US" sz="2400">
                  <a:solidFill>
                    <a:srgbClr val="C8E6C9"/>
                  </a:solidFill>
                  <a:latin typeface="Codec Pro"/>
                  <a:ea typeface="Codec Pro"/>
                  <a:cs typeface="Codec Pro"/>
                  <a:sym typeface="Codec Pro"/>
                </a:rPr>
                <a:t> das condições de chuva, ajudando a prever eventos climáticos extremos.</a:t>
              </a:r>
            </a:p>
          </p:txBody>
        </p:sp>
        <p:sp>
          <p:nvSpPr>
            <p:cNvPr name="TextBox 17" id="17"/>
            <p:cNvSpPr txBox="true"/>
            <p:nvPr/>
          </p:nvSpPr>
          <p:spPr>
            <a:xfrm rot="0">
              <a:off x="0" y="-66675"/>
              <a:ext cx="5281434" cy="10928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Monitoramento em Tempo Real</a:t>
              </a:r>
            </a:p>
          </p:txBody>
        </p:sp>
      </p:grpSp>
      <p:grpSp>
        <p:nvGrpSpPr>
          <p:cNvPr name="Group 18" id="18"/>
          <p:cNvGrpSpPr/>
          <p:nvPr/>
        </p:nvGrpSpPr>
        <p:grpSpPr>
          <a:xfrm rot="0">
            <a:off x="7163462" y="4248150"/>
            <a:ext cx="3961075" cy="2758440"/>
            <a:chOff x="0" y="0"/>
            <a:chExt cx="5281434" cy="3677920"/>
          </a:xfrm>
        </p:grpSpPr>
        <p:sp>
          <p:nvSpPr>
            <p:cNvPr name="TextBox 19" id="19"/>
            <p:cNvSpPr txBox="true"/>
            <p:nvPr/>
          </p:nvSpPr>
          <p:spPr>
            <a:xfrm rot="0">
              <a:off x="0" y="527685"/>
              <a:ext cx="5281434" cy="31502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Com técnicas de análise de dados, é possível </a:t>
              </a:r>
              <a:r>
                <a:rPr lang="en-US" b="true" sz="2400">
                  <a:solidFill>
                    <a:srgbClr val="C8E6C9"/>
                  </a:solidFill>
                  <a:latin typeface="Codec Pro Bold"/>
                  <a:ea typeface="Codec Pro Bold"/>
                  <a:cs typeface="Codec Pro Bold"/>
                  <a:sym typeface="Codec Pro Bold"/>
                </a:rPr>
                <a:t>identificar áreas de risco</a:t>
              </a:r>
              <a:r>
                <a:rPr lang="en-US" sz="2400">
                  <a:solidFill>
                    <a:srgbClr val="C8E6C9"/>
                  </a:solidFill>
                  <a:latin typeface="Codec Pro"/>
                  <a:ea typeface="Codec Pro"/>
                  <a:cs typeface="Codec Pro"/>
                  <a:sym typeface="Codec Pro"/>
                </a:rPr>
                <a:t> antes de ocorrerem enchentes, facilitando a atuação preventiva.</a:t>
              </a:r>
            </a:p>
          </p:txBody>
        </p:sp>
        <p:sp>
          <p:nvSpPr>
            <p:cNvPr name="TextBox 20" id="20"/>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Análise Inteligente</a:t>
              </a:r>
            </a:p>
          </p:txBody>
        </p:sp>
      </p:grpSp>
      <p:grpSp>
        <p:nvGrpSpPr>
          <p:cNvPr name="Group 21" id="21"/>
          <p:cNvGrpSpPr/>
          <p:nvPr/>
        </p:nvGrpSpPr>
        <p:grpSpPr>
          <a:xfrm rot="0">
            <a:off x="12148475" y="4248150"/>
            <a:ext cx="3961075" cy="3148965"/>
            <a:chOff x="0" y="0"/>
            <a:chExt cx="5281434" cy="4198620"/>
          </a:xfrm>
        </p:grpSpPr>
        <p:sp>
          <p:nvSpPr>
            <p:cNvPr name="TextBox 22" id="22"/>
            <p:cNvSpPr txBox="true"/>
            <p:nvPr/>
          </p:nvSpPr>
          <p:spPr>
            <a:xfrm rot="0">
              <a:off x="0" y="527685"/>
              <a:ext cx="5281434" cy="3670935"/>
            </a:xfrm>
            <a:prstGeom prst="rect">
              <a:avLst/>
            </a:prstGeom>
          </p:spPr>
          <p:txBody>
            <a:bodyPr anchor="t" rtlCol="false" tIns="0" lIns="0" bIns="0" rIns="0">
              <a:spAutoFit/>
            </a:bodyPr>
            <a:lstStyle/>
            <a:p>
              <a:pPr algn="ctr" marL="0" indent="0" lvl="0">
                <a:lnSpc>
                  <a:spcPts val="3120"/>
                </a:lnSpc>
              </a:pPr>
              <a:r>
                <a:rPr lang="en-US" sz="2400">
                  <a:solidFill>
                    <a:srgbClr val="C8E6C9"/>
                  </a:solidFill>
                  <a:latin typeface="Codec Pro"/>
                  <a:ea typeface="Codec Pro"/>
                  <a:cs typeface="Codec Pro"/>
                  <a:sym typeface="Codec Pro"/>
                </a:rPr>
                <a:t>Notificações via aplicativo garantem que a população receba </a:t>
              </a:r>
              <a:r>
                <a:rPr lang="en-US" b="true" sz="2400">
                  <a:solidFill>
                    <a:srgbClr val="C8E6C9"/>
                  </a:solidFill>
                  <a:latin typeface="Codec Pro Bold"/>
                  <a:ea typeface="Codec Pro Bold"/>
                  <a:cs typeface="Codec Pro Bold"/>
                  <a:sym typeface="Codec Pro Bold"/>
                </a:rPr>
                <a:t>alertas em tempo real</a:t>
              </a:r>
              <a:r>
                <a:rPr lang="en-US" sz="2400">
                  <a:solidFill>
                    <a:srgbClr val="C8E6C9"/>
                  </a:solidFill>
                  <a:latin typeface="Codec Pro"/>
                  <a:ea typeface="Codec Pro"/>
                  <a:cs typeface="Codec Pro"/>
                  <a:sym typeface="Codec Pro"/>
                </a:rPr>
                <a:t>, permitindo uma resposta rápida e eficaz a situações de emergência.</a:t>
              </a:r>
            </a:p>
          </p:txBody>
        </p:sp>
        <p:sp>
          <p:nvSpPr>
            <p:cNvPr name="TextBox 23" id="23"/>
            <p:cNvSpPr txBox="true"/>
            <p:nvPr/>
          </p:nvSpPr>
          <p:spPr>
            <a:xfrm rot="0">
              <a:off x="0" y="-66675"/>
              <a:ext cx="5281434" cy="559435"/>
            </a:xfrm>
            <a:prstGeom prst="rect">
              <a:avLst/>
            </a:prstGeom>
          </p:spPr>
          <p:txBody>
            <a:bodyPr anchor="t" rtlCol="false" tIns="0" lIns="0" bIns="0" rIns="0">
              <a:spAutoFit/>
            </a:bodyPr>
            <a:lstStyle/>
            <a:p>
              <a:pPr algn="ctr" marL="0" indent="0" lvl="0">
                <a:lnSpc>
                  <a:spcPts val="3120"/>
                </a:lnSpc>
              </a:pPr>
              <a:r>
                <a:rPr lang="en-US" b="true" sz="2400">
                  <a:solidFill>
                    <a:srgbClr val="C8E6C9"/>
                  </a:solidFill>
                  <a:latin typeface="Codec Pro Ultra-Bold"/>
                  <a:ea typeface="Codec Pro Ultra-Bold"/>
                  <a:cs typeface="Codec Pro Ultra-Bold"/>
                  <a:sym typeface="Codec Pro Ultra-Bold"/>
                </a:rPr>
                <a:t>Alerta à População</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666750"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C8E6C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0796B"/>
            </a:solidFill>
          </p:spPr>
        </p:sp>
      </p:grpSp>
      <p:grpSp>
        <p:nvGrpSpPr>
          <p:cNvPr name="Group 5" id="5"/>
          <p:cNvGrpSpPr/>
          <p:nvPr/>
        </p:nvGrpSpPr>
        <p:grpSpPr>
          <a:xfrm rot="0">
            <a:off x="1800225" y="3764449"/>
            <a:ext cx="4717524" cy="4960451"/>
            <a:chOff x="0" y="0"/>
            <a:chExt cx="1242476" cy="1306456"/>
          </a:xfrm>
        </p:grpSpPr>
        <p:sp>
          <p:nvSpPr>
            <p:cNvPr name="Freeform 6" id="6"/>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7" id="7"/>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8" id="8"/>
          <p:cNvGrpSpPr/>
          <p:nvPr/>
        </p:nvGrpSpPr>
        <p:grpSpPr>
          <a:xfrm rot="0">
            <a:off x="6785238" y="3764449"/>
            <a:ext cx="4717524" cy="4960451"/>
            <a:chOff x="0" y="0"/>
            <a:chExt cx="1242476" cy="1306456"/>
          </a:xfrm>
        </p:grpSpPr>
        <p:sp>
          <p:nvSpPr>
            <p:cNvPr name="Freeform 9" id="9"/>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0" id="10"/>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grpSp>
        <p:nvGrpSpPr>
          <p:cNvPr name="Group 11" id="11"/>
          <p:cNvGrpSpPr/>
          <p:nvPr/>
        </p:nvGrpSpPr>
        <p:grpSpPr>
          <a:xfrm rot="0">
            <a:off x="11770251" y="3764449"/>
            <a:ext cx="4717524" cy="4960451"/>
            <a:chOff x="0" y="0"/>
            <a:chExt cx="1242476" cy="1306456"/>
          </a:xfrm>
        </p:grpSpPr>
        <p:sp>
          <p:nvSpPr>
            <p:cNvPr name="Freeform 12" id="12"/>
            <p:cNvSpPr/>
            <p:nvPr/>
          </p:nvSpPr>
          <p:spPr>
            <a:xfrm flipH="false" flipV="false" rot="0">
              <a:off x="0" y="0"/>
              <a:ext cx="1242476" cy="1306456"/>
            </a:xfrm>
            <a:custGeom>
              <a:avLst/>
              <a:gdLst/>
              <a:ahLst/>
              <a:cxnLst/>
              <a:rect r="r" b="b" t="t" l="l"/>
              <a:pathLst>
                <a:path h="1306456" w="1242476">
                  <a:moveTo>
                    <a:pt x="82055" y="0"/>
                  </a:moveTo>
                  <a:lnTo>
                    <a:pt x="1160421" y="0"/>
                  </a:lnTo>
                  <a:cubicBezTo>
                    <a:pt x="1182183" y="0"/>
                    <a:pt x="1203054" y="8645"/>
                    <a:pt x="1218442" y="24033"/>
                  </a:cubicBezTo>
                  <a:cubicBezTo>
                    <a:pt x="1233831" y="39422"/>
                    <a:pt x="1242476" y="60293"/>
                    <a:pt x="1242476" y="82055"/>
                  </a:cubicBezTo>
                  <a:lnTo>
                    <a:pt x="1242476" y="1224401"/>
                  </a:lnTo>
                  <a:cubicBezTo>
                    <a:pt x="1242476" y="1246164"/>
                    <a:pt x="1233831" y="1267035"/>
                    <a:pt x="1218442" y="1282423"/>
                  </a:cubicBezTo>
                  <a:cubicBezTo>
                    <a:pt x="1203054" y="1297811"/>
                    <a:pt x="1182183" y="1306456"/>
                    <a:pt x="1160421" y="1306456"/>
                  </a:cubicBezTo>
                  <a:lnTo>
                    <a:pt x="82055" y="1306456"/>
                  </a:lnTo>
                  <a:cubicBezTo>
                    <a:pt x="60293" y="1306456"/>
                    <a:pt x="39422" y="1297811"/>
                    <a:pt x="24033" y="1282423"/>
                  </a:cubicBezTo>
                  <a:cubicBezTo>
                    <a:pt x="8645" y="1267035"/>
                    <a:pt x="0" y="1246164"/>
                    <a:pt x="0" y="1224401"/>
                  </a:cubicBezTo>
                  <a:lnTo>
                    <a:pt x="0" y="82055"/>
                  </a:lnTo>
                  <a:cubicBezTo>
                    <a:pt x="0" y="60293"/>
                    <a:pt x="8645" y="39422"/>
                    <a:pt x="24033" y="24033"/>
                  </a:cubicBezTo>
                  <a:cubicBezTo>
                    <a:pt x="39422" y="8645"/>
                    <a:pt x="60293" y="0"/>
                    <a:pt x="82055" y="0"/>
                  </a:cubicBezTo>
                  <a:close/>
                </a:path>
              </a:pathLst>
            </a:custGeom>
            <a:solidFill>
              <a:srgbClr val="000000">
                <a:alpha val="0"/>
              </a:srgbClr>
            </a:solidFill>
            <a:ln w="38100" cap="rnd">
              <a:solidFill>
                <a:srgbClr val="000000"/>
              </a:solidFill>
              <a:prstDash val="solid"/>
              <a:round/>
            </a:ln>
          </p:spPr>
        </p:sp>
        <p:sp>
          <p:nvSpPr>
            <p:cNvPr name="TextBox 13" id="13"/>
            <p:cNvSpPr txBox="true"/>
            <p:nvPr/>
          </p:nvSpPr>
          <p:spPr>
            <a:xfrm>
              <a:off x="0" y="-66675"/>
              <a:ext cx="1242476" cy="1373131"/>
            </a:xfrm>
            <a:prstGeom prst="rect">
              <a:avLst/>
            </a:prstGeom>
          </p:spPr>
          <p:txBody>
            <a:bodyPr anchor="ctr" rtlCol="false" tIns="127000" lIns="127000" bIns="127000" rIns="127000"/>
            <a:lstStyle/>
            <a:p>
              <a:pPr algn="ctr" marL="0" indent="0" lvl="0">
                <a:lnSpc>
                  <a:spcPts val="3120"/>
                </a:lnSpc>
              </a:pPr>
            </a:p>
          </p:txBody>
        </p:sp>
      </p:grpSp>
      <p:sp>
        <p:nvSpPr>
          <p:cNvPr name="TextBox 14" id="14"/>
          <p:cNvSpPr txBox="true"/>
          <p:nvPr/>
        </p:nvSpPr>
        <p:spPr>
          <a:xfrm rot="0">
            <a:off x="2105025" y="1504950"/>
            <a:ext cx="14077950" cy="876300"/>
          </a:xfrm>
          <a:prstGeom prst="rect">
            <a:avLst/>
          </a:prstGeom>
        </p:spPr>
        <p:txBody>
          <a:bodyPr anchor="t" rtlCol="false" tIns="0" lIns="0" bIns="0" rIns="0">
            <a:spAutoFit/>
          </a:bodyPr>
          <a:lstStyle/>
          <a:p>
            <a:pPr algn="ctr" marL="0" indent="0" lvl="0">
              <a:lnSpc>
                <a:spcPts val="6480"/>
              </a:lnSpc>
            </a:pPr>
            <a:r>
              <a:rPr lang="en-US" b="true" sz="5400" spc="-135">
                <a:solidFill>
                  <a:srgbClr val="00796B"/>
                </a:solidFill>
                <a:latin typeface="Gatwick Ultra-Bold"/>
                <a:ea typeface="Gatwick Ultra-Bold"/>
                <a:cs typeface="Gatwick Ultra-Bold"/>
                <a:sym typeface="Gatwick Ultra-Bold"/>
              </a:rPr>
              <a:t>Benefícios do AlertaSP</a:t>
            </a:r>
          </a:p>
        </p:txBody>
      </p:sp>
      <p:sp>
        <p:nvSpPr>
          <p:cNvPr name="TextBox 15" id="15"/>
          <p:cNvSpPr txBox="true"/>
          <p:nvPr/>
        </p:nvSpPr>
        <p:spPr>
          <a:xfrm rot="0">
            <a:off x="2202924"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00796B"/>
                </a:solidFill>
                <a:latin typeface="Codec Pro"/>
                <a:ea typeface="Codec Pro"/>
                <a:cs typeface="Codec Pro"/>
                <a:sym typeface="Codec Pro"/>
              </a:rPr>
              <a:t>A </a:t>
            </a:r>
            <a:r>
              <a:rPr lang="en-US" b="true" sz="2400" strike="noStrike" u="none">
                <a:solidFill>
                  <a:srgbClr val="00796B"/>
                </a:solidFill>
                <a:latin typeface="Codec Pro Bold"/>
                <a:ea typeface="Codec Pro Bold"/>
                <a:cs typeface="Codec Pro Bold"/>
                <a:sym typeface="Codec Pro Bold"/>
              </a:rPr>
              <a:t>prevenção de enchentes</a:t>
            </a:r>
            <a:r>
              <a:rPr lang="en-US" sz="2400" strike="noStrike" u="none">
                <a:solidFill>
                  <a:srgbClr val="00796B"/>
                </a:solidFill>
                <a:latin typeface="Codec Pro"/>
                <a:ea typeface="Codec Pro"/>
                <a:cs typeface="Codec Pro"/>
                <a:sym typeface="Codec Pro"/>
              </a:rPr>
              <a:t> é alcançada através de um sistema de alerta antecipado, permitindo que a população se prepare para chuvas intensas e minimize os danos.</a:t>
            </a:r>
          </a:p>
        </p:txBody>
      </p:sp>
      <p:sp>
        <p:nvSpPr>
          <p:cNvPr name="TextBox 16" id="16"/>
          <p:cNvSpPr txBox="true"/>
          <p:nvPr/>
        </p:nvSpPr>
        <p:spPr>
          <a:xfrm rot="0">
            <a:off x="7187937"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00796B"/>
                </a:solidFill>
                <a:latin typeface="Codec Pro"/>
                <a:ea typeface="Codec Pro"/>
                <a:cs typeface="Codec Pro"/>
                <a:sym typeface="Codec Pro"/>
              </a:rPr>
              <a:t>A segurança da população é fundamental; com evacuação eficiente em áreas de risco, o AlertaSP garante que as pessoas possam deixar locais perigosos antes que a situação se agrave.</a:t>
            </a:r>
          </a:p>
        </p:txBody>
      </p:sp>
      <p:sp>
        <p:nvSpPr>
          <p:cNvPr name="TextBox 17" id="17"/>
          <p:cNvSpPr txBox="true"/>
          <p:nvPr/>
        </p:nvSpPr>
        <p:spPr>
          <a:xfrm rot="0">
            <a:off x="12172950" y="4631085"/>
            <a:ext cx="4010025" cy="3160395"/>
          </a:xfrm>
          <a:prstGeom prst="rect">
            <a:avLst/>
          </a:prstGeom>
        </p:spPr>
        <p:txBody>
          <a:bodyPr anchor="t" rtlCol="false" tIns="0" lIns="0" bIns="0" rIns="0">
            <a:spAutoFit/>
          </a:bodyPr>
          <a:lstStyle/>
          <a:p>
            <a:pPr algn="ctr" marL="0" indent="0" lvl="0">
              <a:lnSpc>
                <a:spcPts val="3120"/>
              </a:lnSpc>
            </a:pPr>
            <a:r>
              <a:rPr lang="en-US" sz="2400" strike="noStrike" u="none">
                <a:solidFill>
                  <a:srgbClr val="00796B"/>
                </a:solidFill>
                <a:latin typeface="Codec Pro"/>
                <a:ea typeface="Codec Pro"/>
                <a:cs typeface="Codec Pro"/>
                <a:sym typeface="Codec Pro"/>
              </a:rPr>
              <a:t>A </a:t>
            </a:r>
            <a:r>
              <a:rPr lang="en-US" b="true" sz="2400" strike="noStrike" u="none">
                <a:solidFill>
                  <a:srgbClr val="00796B"/>
                </a:solidFill>
                <a:latin typeface="Codec Pro Bold"/>
                <a:ea typeface="Codec Pro Bold"/>
                <a:cs typeface="Codec Pro Bold"/>
                <a:sym typeface="Codec Pro Bold"/>
              </a:rPr>
              <a:t>redução de danos</a:t>
            </a:r>
            <a:r>
              <a:rPr lang="en-US" sz="2400" strike="noStrike" u="none">
                <a:solidFill>
                  <a:srgbClr val="00796B"/>
                </a:solidFill>
                <a:latin typeface="Codec Pro"/>
                <a:ea typeface="Codec Pro"/>
                <a:cs typeface="Codec Pro"/>
                <a:sym typeface="Codec Pro"/>
              </a:rPr>
              <a:t> é promovida pelo monitoramento constante, que protege bens materiais e infraestruturas, assegurando uma resposta rápida em casos de emergência climática.</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4D40"/>
        </a:solidFill>
      </p:bgPr>
    </p:bg>
    <p:spTree>
      <p:nvGrpSpPr>
        <p:cNvPr id="1" name=""/>
        <p:cNvGrpSpPr/>
        <p:nvPr/>
      </p:nvGrpSpPr>
      <p:grpSpPr>
        <a:xfrm>
          <a:off x="0" y="0"/>
          <a:ext cx="0" cy="0"/>
          <a:chOff x="0" y="0"/>
          <a:chExt cx="0" cy="0"/>
        </a:xfrm>
      </p:grpSpPr>
      <p:grpSp>
        <p:nvGrpSpPr>
          <p:cNvPr name="Group 2" id="2"/>
          <p:cNvGrpSpPr/>
          <p:nvPr/>
        </p:nvGrpSpPr>
        <p:grpSpPr>
          <a:xfrm rot="0">
            <a:off x="766603" y="666750"/>
            <a:ext cx="16954500" cy="8953500"/>
            <a:chOff x="0" y="0"/>
            <a:chExt cx="5734099" cy="3028120"/>
          </a:xfrm>
        </p:grpSpPr>
        <p:sp>
          <p:nvSpPr>
            <p:cNvPr name="Freeform 3" id="3"/>
            <p:cNvSpPr/>
            <p:nvPr/>
          </p:nvSpPr>
          <p:spPr>
            <a:xfrm flipH="false" flipV="false" rot="0">
              <a:off x="12700" y="12700"/>
              <a:ext cx="5669329" cy="2959540"/>
            </a:xfrm>
            <a:custGeom>
              <a:avLst/>
              <a:gdLst/>
              <a:ahLst/>
              <a:cxnLst/>
              <a:rect r="r" b="b" t="t" l="l"/>
              <a:pathLst>
                <a:path h="2959540" w="5669329">
                  <a:moveTo>
                    <a:pt x="146050" y="2959540"/>
                  </a:moveTo>
                  <a:lnTo>
                    <a:pt x="5523279" y="2959540"/>
                  </a:lnTo>
                  <a:cubicBezTo>
                    <a:pt x="5603289" y="2959540"/>
                    <a:pt x="5669329" y="2893500"/>
                    <a:pt x="5669329" y="2813490"/>
                  </a:cubicBezTo>
                  <a:lnTo>
                    <a:pt x="5669329" y="146050"/>
                  </a:lnTo>
                  <a:cubicBezTo>
                    <a:pt x="5669329" y="66040"/>
                    <a:pt x="5603289" y="0"/>
                    <a:pt x="5523279" y="0"/>
                  </a:cubicBezTo>
                  <a:lnTo>
                    <a:pt x="146050" y="0"/>
                  </a:lnTo>
                  <a:cubicBezTo>
                    <a:pt x="66040" y="0"/>
                    <a:pt x="0" y="66040"/>
                    <a:pt x="0" y="146050"/>
                  </a:cubicBezTo>
                  <a:lnTo>
                    <a:pt x="0" y="2813490"/>
                  </a:lnTo>
                  <a:cubicBezTo>
                    <a:pt x="0" y="2894770"/>
                    <a:pt x="66040" y="2959540"/>
                    <a:pt x="146050" y="2959540"/>
                  </a:cubicBezTo>
                  <a:close/>
                </a:path>
              </a:pathLst>
            </a:custGeom>
            <a:solidFill>
              <a:srgbClr val="C8E6C9"/>
            </a:solidFill>
          </p:spPr>
        </p:sp>
        <p:sp>
          <p:nvSpPr>
            <p:cNvPr name="Freeform 4" id="4"/>
            <p:cNvSpPr/>
            <p:nvPr/>
          </p:nvSpPr>
          <p:spPr>
            <a:xfrm flipH="false" flipV="false" rot="0">
              <a:off x="0" y="0"/>
              <a:ext cx="5734099" cy="3028120"/>
            </a:xfrm>
            <a:custGeom>
              <a:avLst/>
              <a:gdLst/>
              <a:ahLst/>
              <a:cxnLst/>
              <a:rect r="r" b="b" t="t" l="l"/>
              <a:pathLst>
                <a:path h="3028120" w="5734099">
                  <a:moveTo>
                    <a:pt x="5670599" y="74930"/>
                  </a:moveTo>
                  <a:cubicBezTo>
                    <a:pt x="5642659" y="30480"/>
                    <a:pt x="5593129" y="0"/>
                    <a:pt x="5535979" y="0"/>
                  </a:cubicBezTo>
                  <a:lnTo>
                    <a:pt x="158750" y="0"/>
                  </a:lnTo>
                  <a:cubicBezTo>
                    <a:pt x="71120" y="0"/>
                    <a:pt x="0" y="71120"/>
                    <a:pt x="0" y="158750"/>
                  </a:cubicBezTo>
                  <a:lnTo>
                    <a:pt x="0" y="2826190"/>
                  </a:lnTo>
                  <a:cubicBezTo>
                    <a:pt x="0" y="2878260"/>
                    <a:pt x="25400" y="2923980"/>
                    <a:pt x="63500" y="2953190"/>
                  </a:cubicBezTo>
                  <a:cubicBezTo>
                    <a:pt x="91440" y="2997640"/>
                    <a:pt x="140970" y="3028120"/>
                    <a:pt x="216920" y="3028120"/>
                  </a:cubicBezTo>
                  <a:lnTo>
                    <a:pt x="5575349" y="3028120"/>
                  </a:lnTo>
                  <a:cubicBezTo>
                    <a:pt x="5662979" y="3028120"/>
                    <a:pt x="5734099" y="2957000"/>
                    <a:pt x="5734099" y="2869370"/>
                  </a:cubicBezTo>
                  <a:lnTo>
                    <a:pt x="5734099" y="208926"/>
                  </a:lnTo>
                  <a:cubicBezTo>
                    <a:pt x="5734099" y="149860"/>
                    <a:pt x="5708699" y="104140"/>
                    <a:pt x="5670599" y="74930"/>
                  </a:cubicBezTo>
                  <a:close/>
                  <a:moveTo>
                    <a:pt x="12700" y="2826190"/>
                  </a:moveTo>
                  <a:lnTo>
                    <a:pt x="12700" y="158750"/>
                  </a:lnTo>
                  <a:cubicBezTo>
                    <a:pt x="12700" y="78740"/>
                    <a:pt x="78740" y="12700"/>
                    <a:pt x="158750" y="12700"/>
                  </a:cubicBezTo>
                  <a:lnTo>
                    <a:pt x="5535979" y="12700"/>
                  </a:lnTo>
                  <a:cubicBezTo>
                    <a:pt x="5615989" y="12700"/>
                    <a:pt x="5682029" y="78740"/>
                    <a:pt x="5682029" y="158750"/>
                  </a:cubicBezTo>
                  <a:lnTo>
                    <a:pt x="5682029" y="2826190"/>
                  </a:lnTo>
                  <a:cubicBezTo>
                    <a:pt x="5682029" y="2906200"/>
                    <a:pt x="5615989" y="2972240"/>
                    <a:pt x="5535979" y="2972240"/>
                  </a:cubicBezTo>
                  <a:lnTo>
                    <a:pt x="158750" y="2972240"/>
                  </a:lnTo>
                  <a:cubicBezTo>
                    <a:pt x="78740" y="2972240"/>
                    <a:pt x="12700" y="2907470"/>
                    <a:pt x="12700" y="2826190"/>
                  </a:cubicBezTo>
                  <a:close/>
                </a:path>
              </a:pathLst>
            </a:custGeom>
            <a:solidFill>
              <a:srgbClr val="00796B"/>
            </a:solidFill>
          </p:spPr>
        </p:sp>
      </p:grpSp>
      <p:sp>
        <p:nvSpPr>
          <p:cNvPr name="TextBox 5" id="5"/>
          <p:cNvSpPr txBox="true"/>
          <p:nvPr/>
        </p:nvSpPr>
        <p:spPr>
          <a:xfrm rot="0">
            <a:off x="666750" y="4676775"/>
            <a:ext cx="6770012" cy="876300"/>
          </a:xfrm>
          <a:prstGeom prst="rect">
            <a:avLst/>
          </a:prstGeom>
        </p:spPr>
        <p:txBody>
          <a:bodyPr anchor="t" rtlCol="false" tIns="0" lIns="0" bIns="0" rIns="0">
            <a:spAutoFit/>
          </a:bodyPr>
          <a:lstStyle/>
          <a:p>
            <a:pPr algn="ctr" marL="0" indent="0" lvl="0">
              <a:lnSpc>
                <a:spcPts val="6480"/>
              </a:lnSpc>
            </a:pPr>
            <a:r>
              <a:rPr lang="en-US" b="true" sz="5400" spc="-135">
                <a:solidFill>
                  <a:srgbClr val="00796B"/>
                </a:solidFill>
                <a:latin typeface="Gatwick Ultra-Bold"/>
                <a:ea typeface="Gatwick Ultra-Bold"/>
                <a:cs typeface="Gatwick Ultra-Bold"/>
                <a:sym typeface="Gatwick Ultra-Bold"/>
              </a:rPr>
              <a:t>Conclusão</a:t>
            </a:r>
          </a:p>
        </p:txBody>
      </p:sp>
      <p:grpSp>
        <p:nvGrpSpPr>
          <p:cNvPr name="Group 6" id="6"/>
          <p:cNvGrpSpPr/>
          <p:nvPr/>
        </p:nvGrpSpPr>
        <p:grpSpPr>
          <a:xfrm rot="0">
            <a:off x="7436762" y="1562100"/>
            <a:ext cx="9051013" cy="7162800"/>
            <a:chOff x="0" y="0"/>
            <a:chExt cx="2383806" cy="1886499"/>
          </a:xfrm>
        </p:grpSpPr>
        <p:sp>
          <p:nvSpPr>
            <p:cNvPr name="Freeform 7" id="7"/>
            <p:cNvSpPr/>
            <p:nvPr/>
          </p:nvSpPr>
          <p:spPr>
            <a:xfrm flipH="false" flipV="false" rot="0">
              <a:off x="0" y="0"/>
              <a:ext cx="2383806" cy="1886499"/>
            </a:xfrm>
            <a:custGeom>
              <a:avLst/>
              <a:gdLst/>
              <a:ahLst/>
              <a:cxnLst/>
              <a:rect r="r" b="b" t="t" l="l"/>
              <a:pathLst>
                <a:path h="1886499" w="2383806">
                  <a:moveTo>
                    <a:pt x="42768" y="0"/>
                  </a:moveTo>
                  <a:lnTo>
                    <a:pt x="2341038" y="0"/>
                  </a:lnTo>
                  <a:cubicBezTo>
                    <a:pt x="2364658" y="0"/>
                    <a:pt x="2383806" y="19148"/>
                    <a:pt x="2383806" y="42768"/>
                  </a:cubicBezTo>
                  <a:lnTo>
                    <a:pt x="2383806" y="1843730"/>
                  </a:lnTo>
                  <a:cubicBezTo>
                    <a:pt x="2383806" y="1867351"/>
                    <a:pt x="2364658" y="1886499"/>
                    <a:pt x="2341038" y="1886499"/>
                  </a:cubicBezTo>
                  <a:lnTo>
                    <a:pt x="42768" y="1886499"/>
                  </a:lnTo>
                  <a:cubicBezTo>
                    <a:pt x="19148" y="1886499"/>
                    <a:pt x="0" y="1867351"/>
                    <a:pt x="0" y="1843730"/>
                  </a:cubicBezTo>
                  <a:lnTo>
                    <a:pt x="0" y="42768"/>
                  </a:lnTo>
                  <a:cubicBezTo>
                    <a:pt x="0" y="19148"/>
                    <a:pt x="19148" y="0"/>
                    <a:pt x="42768" y="0"/>
                  </a:cubicBezTo>
                  <a:close/>
                </a:path>
              </a:pathLst>
            </a:custGeom>
            <a:solidFill>
              <a:srgbClr val="000000">
                <a:alpha val="0"/>
              </a:srgbClr>
            </a:solidFill>
            <a:ln w="38100" cap="rnd">
              <a:solidFill>
                <a:srgbClr val="000000"/>
              </a:solidFill>
              <a:prstDash val="solid"/>
              <a:round/>
            </a:ln>
          </p:spPr>
        </p:sp>
        <p:sp>
          <p:nvSpPr>
            <p:cNvPr name="TextBox 8" id="8"/>
            <p:cNvSpPr txBox="true"/>
            <p:nvPr/>
          </p:nvSpPr>
          <p:spPr>
            <a:xfrm>
              <a:off x="0" y="-66675"/>
              <a:ext cx="2383806" cy="1953174"/>
            </a:xfrm>
            <a:prstGeom prst="rect">
              <a:avLst/>
            </a:prstGeom>
          </p:spPr>
          <p:txBody>
            <a:bodyPr anchor="ctr" rtlCol="false" tIns="127000" lIns="127000" bIns="127000" rIns="127000"/>
            <a:lstStyle/>
            <a:p>
              <a:pPr algn="ctr" marL="0" indent="0" lvl="0">
                <a:lnSpc>
                  <a:spcPts val="3120"/>
                </a:lnSpc>
              </a:pPr>
            </a:p>
          </p:txBody>
        </p:sp>
      </p:grpSp>
      <p:sp>
        <p:nvSpPr>
          <p:cNvPr name="TextBox 9" id="9"/>
          <p:cNvSpPr txBox="true"/>
          <p:nvPr/>
        </p:nvSpPr>
        <p:spPr>
          <a:xfrm rot="0">
            <a:off x="7659702" y="2928620"/>
            <a:ext cx="8290275" cy="4372610"/>
          </a:xfrm>
          <a:prstGeom prst="rect">
            <a:avLst/>
          </a:prstGeom>
        </p:spPr>
        <p:txBody>
          <a:bodyPr anchor="t" rtlCol="false" tIns="0" lIns="0" bIns="0" rIns="0">
            <a:spAutoFit/>
          </a:bodyPr>
          <a:lstStyle/>
          <a:p>
            <a:pPr algn="ctr" marL="0" indent="0" lvl="0">
              <a:lnSpc>
                <a:spcPts val="2860"/>
              </a:lnSpc>
            </a:pPr>
            <a:r>
              <a:rPr lang="en-US" sz="2200">
                <a:solidFill>
                  <a:srgbClr val="000000"/>
                </a:solidFill>
                <a:latin typeface="Codec Pro"/>
                <a:ea typeface="Codec Pro"/>
                <a:cs typeface="Codec Pro"/>
                <a:sym typeface="Codec Pro"/>
              </a:rPr>
              <a:t>O P</a:t>
            </a:r>
            <a:r>
              <a:rPr lang="en-US" sz="2200">
                <a:solidFill>
                  <a:srgbClr val="000000"/>
                </a:solidFill>
                <a:latin typeface="Codec Pro"/>
                <a:ea typeface="Codec Pro"/>
                <a:cs typeface="Codec Pro"/>
                <a:sym typeface="Codec Pro"/>
              </a:rPr>
              <a:t>rojeto Pluviu</a:t>
            </a:r>
            <a:r>
              <a:rPr lang="en-US" sz="2200">
                <a:solidFill>
                  <a:srgbClr val="000000"/>
                </a:solidFill>
                <a:latin typeface="Codec Pro"/>
                <a:ea typeface="Codec Pro"/>
                <a:cs typeface="Codec Pro"/>
                <a:sym typeface="Codec Pro"/>
              </a:rPr>
              <a:t>s</a:t>
            </a:r>
            <a:r>
              <a:rPr lang="en-US" sz="2200">
                <a:solidFill>
                  <a:srgbClr val="000000"/>
                </a:solidFill>
                <a:latin typeface="Codec Pro"/>
                <a:ea typeface="Codec Pro"/>
                <a:cs typeface="Codec Pro"/>
                <a:sym typeface="Codec Pro"/>
              </a:rPr>
              <a:t> oferece uma solução inovadora, alinhada aos princípios de Cidades Inteligentes, para reduzir os efeitos das enchentes em São Paulo. A integração entre sensores IoT, análise de dados e sistemas de alerta mostra-se viável e relevante para o cenário brasileiro. Experiências internacionais comprovam a eficácia desse tipo de tecnologia e reforçam seu potencial de adaptação para a realidade paulistana. A implementação do AlertaSP resultaria em maior precisão no monitoramento, decisões antecipadas e diminuição dos impactos causados por eventos hidrológicos, promovendo mais segurança e uma administração urbana mais eficiente.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DAG5vub0i_Q</dc:identifier>
  <dcterms:modified xsi:type="dcterms:W3CDTF">2011-08-01T06:04:30Z</dcterms:modified>
  <cp:revision>1</cp:revision>
  <dc:title>Projeto A3:Pluvius</dc:title>
</cp:coreProperties>
</file>